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09759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2926080"/>
            <a:ext cx="6400800" cy="6400800"/>
          </a:xfrm>
          <a:prstGeom prst="arc">
            <a:avLst>
              <a:gd name="adj1" fmla="val 5400000"/>
              <a:gd name="adj2" fmla="val 13200000"/>
            </a:avLst>
          </a:prstGeom>
          <a:ln w="15875">
            <a:solidFill>
              <a:srgbClr val="C98A00"/>
            </a:solidFill>
            <a:prstDash val="sysDot"/>
          </a:ln>
        </p:spPr>
      </p:sp>
      <p:sp>
        <p:nvSpPr>
          <p:cNvPr id="3" name="Shape 1"/>
          <p:cNvSpPr/>
          <p:nvPr/>
        </p:nvSpPr>
        <p:spPr>
          <a:xfrm>
            <a:off x="-2743200" y="4206240"/>
            <a:ext cx="4572000" cy="4572000"/>
          </a:xfrm>
          <a:prstGeom prst="arc">
            <a:avLst>
              <a:gd name="adj1" fmla="val 0"/>
              <a:gd name="adj2" fmla="val 7800000"/>
            </a:avLst>
          </a:prstGeom>
          <a:ln w="15875">
            <a:solidFill>
              <a:srgbClr val="C98A00"/>
            </a:solidFill>
            <a:prstDash val="sysDot"/>
          </a:ln>
        </p:spPr>
      </p:sp>
      <p:sp>
        <p:nvSpPr>
          <p:cNvPr id="4" name="Shape 2"/>
          <p:cNvSpPr/>
          <p:nvPr/>
        </p:nvSpPr>
        <p:spPr>
          <a:xfrm>
            <a:off x="640080" y="548640"/>
            <a:ext cx="0" cy="566928"/>
          </a:xfrm>
          <a:prstGeom prst="line">
            <a:avLst/>
          </a:prstGeom>
          <a:noFill/>
          <a:ln w="19050">
            <a:solidFill>
              <a:srgbClr val="14121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548640"/>
            <a:ext cx="146304" cy="0"/>
          </a:xfrm>
          <a:prstGeom prst="line">
            <a:avLst/>
          </a:prstGeom>
          <a:noFill/>
          <a:ln w="19050">
            <a:solidFill>
              <a:srgbClr val="14121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115568"/>
            <a:ext cx="146304" cy="0"/>
          </a:xfrm>
          <a:prstGeom prst="line">
            <a:avLst/>
          </a:prstGeom>
          <a:noFill/>
          <a:ln w="19050">
            <a:solidFill>
              <a:srgbClr val="14121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5029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b="1" kern="0" spc="100" dirty="0">
                <a:solidFill>
                  <a:srgbClr val="6B6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· PROTECT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b="1" kern="0" spc="100" dirty="0">
                <a:solidFill>
                  <a:srgbClr val="6B6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ON-DEVICE · REAL-TIME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692640" y="50292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lnSpc>
                <a:spcPct val="130000"/>
              </a:lnSpc>
              <a:buNone/>
            </a:pPr>
            <a:r>
              <a:rPr lang="en-US" sz="1200" b="1" kern="0" spc="100" dirty="0">
                <a:solidFill>
                  <a:srgbClr val="6B6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THE</a:t>
            </a:r>
            <a:endParaRPr lang="en-US" sz="1200" dirty="0"/>
          </a:p>
          <a:p>
            <a:pPr marL="0" indent="0" algn="r">
              <a:lnSpc>
                <a:spcPct val="130000"/>
              </a:lnSpc>
              <a:buNone/>
            </a:pPr>
            <a:r>
              <a:rPr lang="en-US" sz="1200" b="1" kern="0" spc="100" dirty="0">
                <a:solidFill>
                  <a:srgbClr val="6B6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BUILDERS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414016"/>
            <a:ext cx="82296" cy="82296"/>
          </a:xfrm>
          <a:prstGeom prst="ellipse">
            <a:avLst/>
          </a:prstGeom>
          <a:solidFill>
            <a:srgbClr val="C98A00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230428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20" dirty="0">
                <a:solidFill>
                  <a:srgbClr val="6B6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IQOO HACKATHON 2026 · OPEN INNOVATION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265176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200" b="1" dirty="0">
                <a:solidFill>
                  <a:srgbClr val="C98A00"/>
                </a:solidFill>
                <a:latin typeface="DejaVu Sans Condensed" pitchFamily="34" charset="0"/>
                <a:ea typeface="DejaVu Sans Condensed" pitchFamily="34" charset="-122"/>
                <a:cs typeface="DejaVu Sans Condensed" pitchFamily="34" charset="-120"/>
              </a:rPr>
              <a:t>OBSCURA</a:t>
            </a:r>
            <a:endParaRPr lang="en-US" sz="11200" dirty="0"/>
          </a:p>
        </p:txBody>
      </p:sp>
      <p:sp>
        <p:nvSpPr>
          <p:cNvPr id="12" name="Text 10"/>
          <p:cNvSpPr/>
          <p:nvPr/>
        </p:nvSpPr>
        <p:spPr>
          <a:xfrm>
            <a:off x="658368" y="4526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6A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formerly “Camera Blindspot”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8368" y="4892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B6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camera that refuses to leak what it should never have seen.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5532120"/>
            <a:ext cx="10972800" cy="0"/>
          </a:xfrm>
          <a:prstGeom prst="line">
            <a:avLst/>
          </a:prstGeom>
          <a:noFill/>
          <a:ln w="12700">
            <a:solidFill>
              <a:srgbClr val="E3DC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5806440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14121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58064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CODORITHM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971800" y="58064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50" dirty="0">
                <a:solidFill>
                  <a:srgbClr val="6B6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 Praharsha  · </a:t>
            </a:r>
            <a:r>
              <a:rPr lang="en-US" sz="1150" dirty="0" err="1">
                <a:solidFill>
                  <a:srgbClr val="6B6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Yasasswini</a:t>
            </a:r>
            <a:r>
              <a:rPr lang="en-US" sz="1150" dirty="0">
                <a:solidFill>
                  <a:srgbClr val="6B6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Akshaya Siri 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006840" y="5806440"/>
            <a:ext cx="25146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4121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06840" y="58064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50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CHENNAI CITY BATTLE →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85216"/>
            <a:ext cx="82296" cy="82296"/>
          </a:xfrm>
          <a:prstGeom prst="ellipse">
            <a:avLst/>
          </a:prstGeom>
          <a:solidFill>
            <a:srgbClr val="C98A00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7548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20" dirty="0">
                <a:solidFill>
                  <a:srgbClr val="6B6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NAME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21792" y="841248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41210"/>
                </a:solidFill>
                <a:latin typeface="DejaVu Sans Condensed" pitchFamily="34" charset="0"/>
                <a:ea typeface="DejaVu Sans Condensed" pitchFamily="34" charset="-122"/>
                <a:cs typeface="DejaVu Sans Condensed" pitchFamily="34" charset="-120"/>
              </a:rPr>
              <a:t>Why “Obscura?”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074920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E3DC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240280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6B6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960120" y="2514600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98A00"/>
                </a:solidFill>
                <a:latin typeface="DejaVu Sans Condensed" pitchFamily="34" charset="0"/>
                <a:ea typeface="DejaVu Sans Condensed" pitchFamily="34" charset="-122"/>
                <a:cs typeface="DejaVu Sans Condensed" pitchFamily="34" charset="-120"/>
              </a:rPr>
              <a:t>OBSCURA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960120" y="3136392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6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Latin obscurus — “dark, hidden, concealed.”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60120" y="3657600"/>
            <a:ext cx="4434840" cy="0"/>
          </a:xfrm>
          <a:prstGeom prst="line">
            <a:avLst/>
          </a:prstGeom>
          <a:noFill/>
          <a:ln w="12700">
            <a:solidFill>
              <a:srgbClr val="E3DC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3840480"/>
            <a:ext cx="4434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word “camera” itself comes from camera obscura — Latin for “dark chamber” — the centuries-old optical device that first projected an image through a small aperture into a darkened room. It’s the literal ancestor of every camera ever built.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60120" y="5212080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b="1" i="1" dirty="0">
                <a:solidFill>
                  <a:srgbClr val="C9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camera obscura was built to reveal an image. Obscura is built to withhold part of one — on purpose.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080760" y="1965960"/>
            <a:ext cx="5440680" cy="3977640"/>
          </a:xfrm>
          <a:prstGeom prst="roundRect">
            <a:avLst>
              <a:gd name="adj" fmla="val 2299"/>
            </a:avLst>
          </a:prstGeom>
          <a:solidFill>
            <a:srgbClr val="F0B429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2240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 CHOSE IT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0" y="2807208"/>
            <a:ext cx="82296" cy="82296"/>
          </a:xfrm>
          <a:prstGeom prst="ellipse">
            <a:avLst/>
          </a:prstGeom>
          <a:solidFill>
            <a:srgbClr val="141210"/>
          </a:solidFill>
          <a:ln/>
        </p:spPr>
      </p:sp>
      <p:sp>
        <p:nvSpPr>
          <p:cNvPr id="15" name="Text 13"/>
          <p:cNvSpPr/>
          <p:nvPr/>
        </p:nvSpPr>
        <p:spPr>
          <a:xfrm>
            <a:off x="6647688" y="2651760"/>
            <a:ext cx="4526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Directly tied to the product: the camera’s own origin story is about darkness and concealment — exactly what Obscura does to sensitive content.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0" y="3630168"/>
            <a:ext cx="82296" cy="82296"/>
          </a:xfrm>
          <a:prstGeom prst="ellipse">
            <a:avLst/>
          </a:prstGeom>
          <a:solidFill>
            <a:srgbClr val="141210"/>
          </a:solidFill>
          <a:ln/>
        </p:spPr>
      </p:sp>
      <p:sp>
        <p:nvSpPr>
          <p:cNvPr id="17" name="Text 15"/>
          <p:cNvSpPr/>
          <p:nvPr/>
        </p:nvSpPr>
        <p:spPr>
          <a:xfrm>
            <a:off x="6647688" y="3474720"/>
            <a:ext cx="4526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clean, one-word, brandable name — easy to say, easy to remember, no genericness (“Blur App,” “Privacy Camera”) diluting it.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0" y="4453128"/>
            <a:ext cx="82296" cy="82296"/>
          </a:xfrm>
          <a:prstGeom prst="ellipse">
            <a:avLst/>
          </a:prstGeom>
          <a:solidFill>
            <a:srgbClr val="141210"/>
          </a:solidFill>
          <a:ln/>
        </p:spPr>
      </p:sp>
      <p:sp>
        <p:nvSpPr>
          <p:cNvPr id="19" name="Text 17"/>
          <p:cNvSpPr/>
          <p:nvPr/>
        </p:nvSpPr>
        <p:spPr>
          <a:xfrm>
            <a:off x="6647688" y="4297680"/>
            <a:ext cx="4526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reversal is the story: your camera’s ancestor was named for revealing images in darkness. Obscura is named for keeping part of the image dark, deliberately.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647688" y="5120640"/>
            <a:ext cx="4526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1109960" y="6291072"/>
            <a:ext cx="594360" cy="310896"/>
          </a:xfrm>
          <a:prstGeom prst="roundRect">
            <a:avLst>
              <a:gd name="adj" fmla="val 50000"/>
            </a:avLst>
          </a:prstGeom>
          <a:solidFill>
            <a:srgbClr val="141210"/>
          </a:solidFill>
          <a:ln/>
        </p:spPr>
      </p:sp>
      <p:sp>
        <p:nvSpPr>
          <p:cNvPr id="23" name="Text 21"/>
          <p:cNvSpPr/>
          <p:nvPr/>
        </p:nvSpPr>
        <p:spPr>
          <a:xfrm>
            <a:off x="11109960" y="6291072"/>
            <a:ext cx="594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02/13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A6A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OBSCURA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85216"/>
            <a:ext cx="82296" cy="82296"/>
          </a:xfrm>
          <a:prstGeom prst="ellipse">
            <a:avLst/>
          </a:prstGeom>
          <a:solidFill>
            <a:srgbClr val="C98A00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7548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20" dirty="0">
                <a:solidFill>
                  <a:srgbClr val="6B6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21792" y="841248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41210"/>
                </a:solidFill>
                <a:latin typeface="DejaVu Sans Condensed" pitchFamily="34" charset="0"/>
                <a:ea typeface="DejaVu Sans Condensed" pitchFamily="34" charset="-122"/>
                <a:cs typeface="DejaVu Sans Condensed" pitchFamily="34" charset="-120"/>
              </a:rPr>
              <a:t>Every photo is a small,</a:t>
            </a:r>
            <a:endParaRPr lang="en-US" sz="400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41210"/>
                </a:solidFill>
                <a:latin typeface="DejaVu Sans Condensed" pitchFamily="34" charset="0"/>
                <a:ea typeface="DejaVu Sans Condensed" pitchFamily="34" charset="-122"/>
                <a:cs typeface="DejaVu Sans Condensed" pitchFamily="34" charset="-120"/>
              </a:rPr>
              <a:t>uninspected privacy risk.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6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point your camera at what you want. But the frame captures whatever else happens to be there — a stranger’s face, a child in the background, a laptop screen, a document on a desk. Nobody asked. Nobody consented. Nobody even noticed.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3108960"/>
            <a:ext cx="340156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DC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55848" y="3236976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A6A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41248" y="331012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BF6E6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3419856"/>
            <a:ext cx="283464" cy="28346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41248" y="3931920"/>
            <a:ext cx="29992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stranger’s face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288536" y="3108960"/>
            <a:ext cx="340156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DCC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004304" y="3236976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A6A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489704" y="331012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BF6E6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9432" y="3419856"/>
            <a:ext cx="283464" cy="28346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489704" y="3931920"/>
            <a:ext cx="29992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child in the background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7936992" y="3108960"/>
            <a:ext cx="340156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DCC8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0652760" y="3236976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A6A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8138160" y="331012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BF6E6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7888" y="3419856"/>
            <a:ext cx="283464" cy="28346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138160" y="3931920"/>
            <a:ext cx="29992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laptop screen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640080" y="4700016"/>
            <a:ext cx="340156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DCC8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3355848" y="482803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A6A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841248" y="4901184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BF6E6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976" y="5010912"/>
            <a:ext cx="283464" cy="28346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41248" y="5522976"/>
            <a:ext cx="29992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bank statement</a:t>
            </a:r>
            <a:endParaRPr lang="en-US" sz="1250" dirty="0"/>
          </a:p>
        </p:txBody>
      </p:sp>
      <p:sp>
        <p:nvSpPr>
          <p:cNvPr id="26" name="Shape 20"/>
          <p:cNvSpPr/>
          <p:nvPr/>
        </p:nvSpPr>
        <p:spPr>
          <a:xfrm>
            <a:off x="4288536" y="4700016"/>
            <a:ext cx="340156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DCC8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7004304" y="482803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A6A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4489704" y="4901184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BF6E6"/>
          </a:solidFill>
          <a:ln/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99432" y="5010912"/>
            <a:ext cx="283464" cy="283464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4489704" y="5522976"/>
            <a:ext cx="29992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license plate</a:t>
            </a:r>
            <a:endParaRPr lang="en-US" sz="1250" dirty="0"/>
          </a:p>
        </p:txBody>
      </p:sp>
      <p:sp>
        <p:nvSpPr>
          <p:cNvPr id="31" name="Shape 24"/>
          <p:cNvSpPr/>
          <p:nvPr/>
        </p:nvSpPr>
        <p:spPr>
          <a:xfrm>
            <a:off x="7936992" y="4700016"/>
            <a:ext cx="340156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DCC8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10652760" y="482803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A6A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33" name="Shape 26"/>
          <p:cNvSpPr/>
          <p:nvPr/>
        </p:nvSpPr>
        <p:spPr>
          <a:xfrm>
            <a:off x="8138160" y="4901184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BF6E6"/>
          </a:solidFill>
          <a:ln/>
        </p:spPr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47888" y="5010912"/>
            <a:ext cx="283464" cy="283464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8138160" y="5522976"/>
            <a:ext cx="29992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documents</a:t>
            </a:r>
            <a:endParaRPr lang="en-US" sz="1250" dirty="0"/>
          </a:p>
        </p:txBody>
      </p:sp>
      <p:sp>
        <p:nvSpPr>
          <p:cNvPr id="36" name="Shape 28"/>
          <p:cNvSpPr/>
          <p:nvPr/>
        </p:nvSpPr>
        <p:spPr>
          <a:xfrm>
            <a:off x="11109960" y="6291072"/>
            <a:ext cx="594360" cy="310896"/>
          </a:xfrm>
          <a:prstGeom prst="roundRect">
            <a:avLst>
              <a:gd name="adj" fmla="val 50000"/>
            </a:avLst>
          </a:prstGeom>
          <a:solidFill>
            <a:srgbClr val="141210"/>
          </a:solidFill>
          <a:ln/>
        </p:spPr>
      </p:sp>
      <p:sp>
        <p:nvSpPr>
          <p:cNvPr id="37" name="Text 29"/>
          <p:cNvSpPr/>
          <p:nvPr/>
        </p:nvSpPr>
        <p:spPr>
          <a:xfrm>
            <a:off x="11109960" y="6291072"/>
            <a:ext cx="594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03/13</a:t>
            </a:r>
            <a:endParaRPr lang="en-US" sz="950" dirty="0"/>
          </a:p>
        </p:txBody>
      </p:sp>
      <p:sp>
        <p:nvSpPr>
          <p:cNvPr id="38" name="Text 30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A6A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OBSCURA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85216"/>
            <a:ext cx="82296" cy="82296"/>
          </a:xfrm>
          <a:prstGeom prst="ellipse">
            <a:avLst/>
          </a:prstGeom>
          <a:solidFill>
            <a:srgbClr val="C98A00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7548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20" dirty="0">
                <a:solidFill>
                  <a:srgbClr val="6B6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21792" y="841248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3800" b="1" dirty="0">
                <a:solidFill>
                  <a:srgbClr val="141210"/>
                </a:solidFill>
                <a:latin typeface="DejaVu Sans Condensed" pitchFamily="34" charset="0"/>
                <a:ea typeface="DejaVu Sans Condensed" pitchFamily="34" charset="-122"/>
                <a:cs typeface="DejaVu Sans Condensed" pitchFamily="34" charset="-120"/>
              </a:rPr>
              <a:t>The camera got smarter.</a:t>
            </a:r>
            <a:endParaRPr lang="en-US" sz="380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3800" b="1" dirty="0">
                <a:solidFill>
                  <a:srgbClr val="141210"/>
                </a:solidFill>
                <a:latin typeface="DejaVu Sans Condensed" pitchFamily="34" charset="0"/>
                <a:ea typeface="DejaVu Sans Condensed" pitchFamily="34" charset="-122"/>
                <a:cs typeface="DejaVu Sans Condensed" pitchFamily="34" charset="-120"/>
              </a:rPr>
              <a:t>Privacy protection didn’t.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3566160" cy="3246120"/>
          </a:xfrm>
          <a:prstGeom prst="roundRect">
            <a:avLst>
              <a:gd name="adj" fmla="val 2817"/>
            </a:avLst>
          </a:prstGeom>
          <a:solidFill>
            <a:srgbClr val="FBF6E6"/>
          </a:solidFill>
          <a:ln w="12700">
            <a:solidFill>
              <a:srgbClr val="E3DC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29000" y="278892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C98A00"/>
                </a:solidFill>
                <a:latin typeface="DejaVu Sans Condensed" pitchFamily="34" charset="0"/>
                <a:ea typeface="DejaVu Sans Condensed" pitchFamily="34" charset="-122"/>
                <a:cs typeface="DejaVu Sans Condensed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932688" y="2898648"/>
            <a:ext cx="594360" cy="5943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3DCC8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" y="3054096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32688" y="3749040"/>
            <a:ext cx="298094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Photos travel instantly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932688" y="4297680"/>
            <a:ext cx="298094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6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Shared, screenshotted and forwarded within seconds — long before anyone reviews the frame.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462272" y="2606040"/>
            <a:ext cx="3566160" cy="3246120"/>
          </a:xfrm>
          <a:prstGeom prst="roundRect">
            <a:avLst>
              <a:gd name="adj" fmla="val 2817"/>
            </a:avLst>
          </a:prstGeom>
          <a:solidFill>
            <a:srgbClr val="FBF6E6"/>
          </a:solidFill>
          <a:ln w="12700">
            <a:solidFill>
              <a:srgbClr val="E3DCC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251192" y="278892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C98A00"/>
                </a:solidFill>
                <a:latin typeface="DejaVu Sans Condensed" pitchFamily="34" charset="0"/>
                <a:ea typeface="DejaVu Sans Condensed" pitchFamily="34" charset="-122"/>
                <a:cs typeface="DejaVu Sans Condensed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4754880" y="2898648"/>
            <a:ext cx="594360" cy="5943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3DCC8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0328" y="3054096"/>
            <a:ext cx="292608" cy="2926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754880" y="3749040"/>
            <a:ext cx="298094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Bystanders have no say</a:t>
            </a:r>
            <a:endParaRPr lang="en-US" sz="1550" dirty="0"/>
          </a:p>
        </p:txBody>
      </p:sp>
      <p:sp>
        <p:nvSpPr>
          <p:cNvPr id="16" name="Text 12"/>
          <p:cNvSpPr/>
          <p:nvPr/>
        </p:nvSpPr>
        <p:spPr>
          <a:xfrm>
            <a:off x="4754880" y="4297680"/>
            <a:ext cx="298094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6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in the background of someone else’s photo never consented, and can’t opt out.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8284464" y="2606040"/>
            <a:ext cx="3566160" cy="3246120"/>
          </a:xfrm>
          <a:prstGeom prst="roundRect">
            <a:avLst>
              <a:gd name="adj" fmla="val 2817"/>
            </a:avLst>
          </a:prstGeom>
          <a:solidFill>
            <a:srgbClr val="FBF6E6"/>
          </a:solidFill>
          <a:ln w="12700">
            <a:solidFill>
              <a:srgbClr val="E3DCC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11073384" y="278892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C98A00"/>
                </a:solidFill>
                <a:latin typeface="DejaVu Sans Condensed" pitchFamily="34" charset="0"/>
                <a:ea typeface="DejaVu Sans Condensed" pitchFamily="34" charset="-122"/>
                <a:cs typeface="DejaVu Sans Condensed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8577072" y="2898648"/>
            <a:ext cx="594360" cy="5943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3DCC8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2520" y="3054096"/>
            <a:ext cx="292608" cy="29260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577072" y="3749040"/>
            <a:ext cx="298094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On-device AI enables it</a:t>
            </a:r>
            <a:endParaRPr lang="en-US" sz="1550" dirty="0"/>
          </a:p>
        </p:txBody>
      </p:sp>
      <p:sp>
        <p:nvSpPr>
          <p:cNvPr id="22" name="Text 17"/>
          <p:cNvSpPr/>
          <p:nvPr/>
        </p:nvSpPr>
        <p:spPr>
          <a:xfrm>
            <a:off x="8577072" y="4297680"/>
            <a:ext cx="298094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6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NPUs now run real-time detection locally — fast enough to act before the shutter closes.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11109960" y="6291072"/>
            <a:ext cx="594360" cy="310896"/>
          </a:xfrm>
          <a:prstGeom prst="roundRect">
            <a:avLst>
              <a:gd name="adj" fmla="val 50000"/>
            </a:avLst>
          </a:prstGeom>
          <a:solidFill>
            <a:srgbClr val="141210"/>
          </a:solidFill>
          <a:ln/>
        </p:spPr>
      </p:sp>
      <p:sp>
        <p:nvSpPr>
          <p:cNvPr id="24" name="Text 19"/>
          <p:cNvSpPr/>
          <p:nvPr/>
        </p:nvSpPr>
        <p:spPr>
          <a:xfrm>
            <a:off x="11109960" y="6291072"/>
            <a:ext cx="594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04/13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A6A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OBSCURA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85216"/>
            <a:ext cx="82296" cy="82296"/>
          </a:xfrm>
          <a:prstGeom prst="ellipse">
            <a:avLst/>
          </a:prstGeom>
          <a:solidFill>
            <a:srgbClr val="C98A00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7548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20" dirty="0">
                <a:solidFill>
                  <a:srgbClr val="6B6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COMPETITIVE LANDSCAPE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21792" y="841248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141210"/>
                </a:solidFill>
                <a:latin typeface="DejaVu Sans Condensed" pitchFamily="34" charset="0"/>
                <a:ea typeface="DejaVu Sans Condensed" pitchFamily="34" charset="-122"/>
                <a:cs typeface="DejaVu Sans Condensed" pitchFamily="34" charset="-120"/>
              </a:rPr>
              <a:t>Blur apps already exist.</a:t>
            </a:r>
            <a:endParaRPr lang="en-US" sz="340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141210"/>
                </a:solidFill>
                <a:latin typeface="DejaVu Sans Condensed" pitchFamily="34" charset="0"/>
                <a:ea typeface="DejaVu Sans Condensed" pitchFamily="34" charset="-122"/>
                <a:cs typeface="DejaVu Sans Condensed" pitchFamily="34" charset="-120"/>
              </a:rPr>
              <a:t>We attack a different moment.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5120640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E3DC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78892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6B6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BLUR APPS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246120"/>
            <a:ext cx="201168" cy="201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98448" y="3191256"/>
            <a:ext cx="413308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Blur faces after the photo is already saved</a:t>
            </a:r>
            <a:endParaRPr lang="en-US" sz="12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822192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98448" y="3767328"/>
            <a:ext cx="413308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Sensitive data briefly exists on disk either way</a:t>
            </a:r>
            <a:endParaRPr lang="en-US" sz="12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398264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98448" y="4343400"/>
            <a:ext cx="413308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must remember to open a separate app</a:t>
            </a:r>
            <a:endParaRPr lang="en-US" sz="12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974336"/>
            <a:ext cx="201168" cy="20116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98448" y="4919472"/>
            <a:ext cx="413308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Mostly faces only — rarely documents or screens</a:t>
            </a:r>
            <a:endParaRPr lang="en-US" sz="12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5550408"/>
            <a:ext cx="201168" cy="20116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298448" y="5495544"/>
            <a:ext cx="413308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dedicated camera you have to choose to use</a:t>
            </a:r>
            <a:endParaRPr lang="en-US" sz="1200" dirty="0"/>
          </a:p>
        </p:txBody>
      </p:sp>
      <p:sp>
        <p:nvSpPr>
          <p:cNvPr id="17" name="Shape 10"/>
          <p:cNvSpPr/>
          <p:nvPr/>
        </p:nvSpPr>
        <p:spPr>
          <a:xfrm>
            <a:off x="6217920" y="2514600"/>
            <a:ext cx="5120640" cy="3794760"/>
          </a:xfrm>
          <a:prstGeom prst="roundRect">
            <a:avLst>
              <a:gd name="adj" fmla="val 2410"/>
            </a:avLst>
          </a:prstGeom>
          <a:solidFill>
            <a:srgbClr val="F0B429"/>
          </a:solidFill>
          <a:ln/>
        </p:spPr>
      </p:sp>
      <p:sp>
        <p:nvSpPr>
          <p:cNvPr id="18" name="Text 11"/>
          <p:cNvSpPr/>
          <p:nvPr/>
        </p:nvSpPr>
        <p:spPr>
          <a:xfrm>
            <a:off x="6537960" y="278892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OBSCURA</a:t>
            </a:r>
            <a:endParaRPr lang="en-US" sz="12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3246120"/>
            <a:ext cx="201168" cy="20116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876288" y="3191256"/>
            <a:ext cx="413308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Detects sensitive content BEFORE the photo is saved</a:t>
            </a:r>
            <a:endParaRPr lang="en-US" sz="120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3822192"/>
            <a:ext cx="201168" cy="201168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6876288" y="3767328"/>
            <a:ext cx="413308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sensitive ever touches storage unredacted</a:t>
            </a:r>
            <a:endParaRPr lang="en-US" sz="1200" dirty="0"/>
          </a:p>
        </p:txBody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4398264"/>
            <a:ext cx="201168" cy="201168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6876288" y="4343400"/>
            <a:ext cx="413308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into the camera pipeline — always on</a:t>
            </a:r>
            <a:endParaRPr lang="en-US" sz="1200" dirty="0"/>
          </a:p>
        </p:txBody>
      </p:sp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4974336"/>
            <a:ext cx="201168" cy="201168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6876288" y="4919472"/>
            <a:ext cx="413308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Faces, screens, documents, plates, and more</a:t>
            </a:r>
            <a:endParaRPr lang="en-US" sz="1200" dirty="0"/>
          </a:p>
        </p:txBody>
      </p:sp>
      <p:pic>
        <p:nvPicPr>
          <p:cNvPr id="27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5550408"/>
            <a:ext cx="201168" cy="201168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6876288" y="5495544"/>
            <a:ext cx="413308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extra steps: point, shoot, protected</a:t>
            </a:r>
            <a:endParaRPr lang="en-US" sz="1200" dirty="0"/>
          </a:p>
        </p:txBody>
      </p:sp>
      <p:sp>
        <p:nvSpPr>
          <p:cNvPr id="29" name="Shape 17"/>
          <p:cNvSpPr/>
          <p:nvPr/>
        </p:nvSpPr>
        <p:spPr>
          <a:xfrm>
            <a:off x="11109960" y="6291072"/>
            <a:ext cx="594360" cy="310896"/>
          </a:xfrm>
          <a:prstGeom prst="roundRect">
            <a:avLst>
              <a:gd name="adj" fmla="val 50000"/>
            </a:avLst>
          </a:prstGeom>
          <a:solidFill>
            <a:srgbClr val="141210"/>
          </a:solidFill>
          <a:ln/>
        </p:spPr>
      </p:sp>
      <p:sp>
        <p:nvSpPr>
          <p:cNvPr id="30" name="Text 18"/>
          <p:cNvSpPr/>
          <p:nvPr/>
        </p:nvSpPr>
        <p:spPr>
          <a:xfrm>
            <a:off x="11109960" y="6291072"/>
            <a:ext cx="594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05/13</a:t>
            </a:r>
            <a:endParaRPr lang="en-US" sz="950" dirty="0"/>
          </a:p>
        </p:txBody>
      </p:sp>
      <p:sp>
        <p:nvSpPr>
          <p:cNvPr id="31" name="Text 19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A6A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OBSCURA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943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INSIGHT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1051560"/>
            <a:ext cx="1051560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5400" b="1" dirty="0">
                <a:solidFill>
                  <a:srgbClr val="141210"/>
                </a:solidFill>
                <a:latin typeface="DejaVu Sans Condensed" pitchFamily="34" charset="0"/>
                <a:ea typeface="DejaVu Sans Condensed" pitchFamily="34" charset="-122"/>
                <a:cs typeface="DejaVu Sans Condensed" pitchFamily="34" charset="-120"/>
              </a:rPr>
              <a:t>“THE PRIVACY LEAK</a:t>
            </a:r>
            <a:endParaRPr lang="en-US" sz="540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5400" b="1" dirty="0">
                <a:solidFill>
                  <a:srgbClr val="141210"/>
                </a:solidFill>
                <a:latin typeface="DejaVu Sans Condensed" pitchFamily="34" charset="0"/>
                <a:ea typeface="DejaVu Sans Condensed" pitchFamily="34" charset="-122"/>
                <a:cs typeface="DejaVu Sans Condensed" pitchFamily="34" charset="-120"/>
              </a:rPr>
              <a:t>HAPPENS THE MOMENT</a:t>
            </a:r>
            <a:endParaRPr lang="en-US" sz="540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5400" b="1" dirty="0">
                <a:solidFill>
                  <a:srgbClr val="141210"/>
                </a:solidFill>
                <a:latin typeface="DejaVu Sans Condensed" pitchFamily="34" charset="0"/>
                <a:ea typeface="DejaVu Sans Condensed" pitchFamily="34" charset="-122"/>
                <a:cs typeface="DejaVu Sans Condensed" pitchFamily="34" charset="-120"/>
              </a:rPr>
              <a:t>THE SHUTTER CLICKS —</a:t>
            </a:r>
            <a:endParaRPr lang="en-US" sz="540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5400" b="1" dirty="0">
                <a:solidFill>
                  <a:srgbClr val="141210"/>
                </a:solidFill>
                <a:latin typeface="DejaVu Sans Condensed" pitchFamily="34" charset="0"/>
                <a:ea typeface="DejaVu Sans Condensed" pitchFamily="34" charset="-122"/>
                <a:cs typeface="DejaVu Sans Condensed" pitchFamily="34" charset="-120"/>
              </a:rPr>
              <a:t>NOT AFTER.”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640080" y="5257800"/>
            <a:ext cx="3657600" cy="0"/>
          </a:xfrm>
          <a:prstGeom prst="line">
            <a:avLst/>
          </a:prstGeom>
          <a:noFill/>
          <a:ln w="19050">
            <a:solidFill>
              <a:srgbClr val="14121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4406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i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existing solution fixes a photo that already contains the leak. Obscura makes sure the leak never gets saved in the first place.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881360" y="6291072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06/13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85216"/>
            <a:ext cx="82296" cy="82296"/>
          </a:xfrm>
          <a:prstGeom prst="ellipse">
            <a:avLst/>
          </a:prstGeom>
          <a:solidFill>
            <a:srgbClr val="C98A00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7548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20" dirty="0">
                <a:solidFill>
                  <a:srgbClr val="6B6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21792" y="84124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210"/>
                </a:solidFill>
                <a:latin typeface="DejaVu Sans Condensed" pitchFamily="34" charset="0"/>
                <a:ea typeface="DejaVu Sans Condensed" pitchFamily="34" charset="-122"/>
                <a:cs typeface="DejaVu Sans Condensed" pitchFamily="34" charset="-120"/>
              </a:rPr>
              <a:t>Detection happens before the shutter closes.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188720" y="4160520"/>
            <a:ext cx="9784080" cy="0"/>
          </a:xfrm>
          <a:prstGeom prst="line">
            <a:avLst/>
          </a:prstGeom>
          <a:noFill/>
          <a:ln w="25400">
            <a:solidFill>
              <a:srgbClr val="E3DC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42416" y="4014216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4121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2416" y="401421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188720" y="3474720"/>
            <a:ext cx="0" cy="548640"/>
          </a:xfrm>
          <a:prstGeom prst="line">
            <a:avLst/>
          </a:prstGeom>
          <a:noFill/>
          <a:ln w="19050">
            <a:solidFill>
              <a:srgbClr val="E3DCC8"/>
            </a:solidFill>
            <a:prstDash val="sysDash"/>
          </a:ln>
        </p:spPr>
      </p:sp>
      <p:sp>
        <p:nvSpPr>
          <p:cNvPr id="9" name="Shape 7"/>
          <p:cNvSpPr/>
          <p:nvPr/>
        </p:nvSpPr>
        <p:spPr>
          <a:xfrm>
            <a:off x="365760" y="1508760"/>
            <a:ext cx="233172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3DCC8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691640"/>
            <a:ext cx="292608" cy="29260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66928" y="2075688"/>
            <a:ext cx="192938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viewfinder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66928" y="2514600"/>
            <a:ext cx="192938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6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stream analyzed frame-by-frame in real time.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303776" y="4014216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4121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303776" y="401421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450080" y="3474720"/>
            <a:ext cx="0" cy="548640"/>
          </a:xfrm>
          <a:prstGeom prst="line">
            <a:avLst/>
          </a:prstGeom>
          <a:noFill/>
          <a:ln w="19050">
            <a:solidFill>
              <a:srgbClr val="E3DCC8"/>
            </a:solidFill>
            <a:prstDash val="sysDash"/>
          </a:ln>
        </p:spPr>
      </p:sp>
      <p:sp>
        <p:nvSpPr>
          <p:cNvPr id="16" name="Shape 13"/>
          <p:cNvSpPr/>
          <p:nvPr/>
        </p:nvSpPr>
        <p:spPr>
          <a:xfrm>
            <a:off x="3284220" y="1508760"/>
            <a:ext cx="233172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3DCC8"/>
            </a:solidFill>
            <a:prstDash val="solid"/>
          </a:ln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5388" y="1691640"/>
            <a:ext cx="292608" cy="29260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485388" y="2075688"/>
            <a:ext cx="192938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On-device NPU scan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3485388" y="2514600"/>
            <a:ext cx="192938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6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model flags faces, screens &amp; documents — no cloud.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7565136" y="4014216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4121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565136" y="401421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7711440" y="3474720"/>
            <a:ext cx="0" cy="548640"/>
          </a:xfrm>
          <a:prstGeom prst="line">
            <a:avLst/>
          </a:prstGeom>
          <a:noFill/>
          <a:ln w="19050">
            <a:solidFill>
              <a:srgbClr val="E3DCC8"/>
            </a:solidFill>
            <a:prstDash val="sysDash"/>
          </a:ln>
        </p:spPr>
      </p:sp>
      <p:sp>
        <p:nvSpPr>
          <p:cNvPr id="23" name="Shape 19"/>
          <p:cNvSpPr/>
          <p:nvPr/>
        </p:nvSpPr>
        <p:spPr>
          <a:xfrm>
            <a:off x="6545580" y="1508760"/>
            <a:ext cx="233172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3DCC8"/>
            </a:solidFill>
            <a:prstDash val="solid"/>
          </a:ln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6748" y="1691640"/>
            <a:ext cx="292608" cy="29260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746748" y="2075688"/>
            <a:ext cx="192938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Auto-redact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6746748" y="2514600"/>
            <a:ext cx="192938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6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Sensitive regions blurred before the frame is written.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10826496" y="4014216"/>
            <a:ext cx="292608" cy="292608"/>
          </a:xfrm>
          <a:prstGeom prst="ellipse">
            <a:avLst/>
          </a:prstGeom>
          <a:solidFill>
            <a:srgbClr val="F0B429"/>
          </a:solidFill>
          <a:ln w="19050">
            <a:solidFill>
              <a:srgbClr val="141210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10826496" y="401421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10972800" y="3474720"/>
            <a:ext cx="0" cy="548640"/>
          </a:xfrm>
          <a:prstGeom prst="line">
            <a:avLst/>
          </a:prstGeom>
          <a:noFill/>
          <a:ln w="19050">
            <a:solidFill>
              <a:srgbClr val="E3DCC8"/>
            </a:solidFill>
            <a:prstDash val="sysDash"/>
          </a:ln>
        </p:spPr>
      </p:sp>
      <p:sp>
        <p:nvSpPr>
          <p:cNvPr id="30" name="Shape 25"/>
          <p:cNvSpPr/>
          <p:nvPr/>
        </p:nvSpPr>
        <p:spPr>
          <a:xfrm>
            <a:off x="9464040" y="1508760"/>
            <a:ext cx="2331720" cy="1965960"/>
          </a:xfrm>
          <a:prstGeom prst="roundRect">
            <a:avLst>
              <a:gd name="adj" fmla="val 4186"/>
            </a:avLst>
          </a:prstGeom>
          <a:solidFill>
            <a:srgbClr val="141210"/>
          </a:solidFill>
          <a:ln w="12700">
            <a:solidFill>
              <a:srgbClr val="E3DCC8"/>
            </a:solidFill>
            <a:prstDash val="solid"/>
          </a:ln>
        </p:spPr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65208" y="1691640"/>
            <a:ext cx="292608" cy="292608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9665208" y="2075688"/>
            <a:ext cx="192938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photo saved</a:t>
            </a:r>
            <a:endParaRPr lang="en-US" sz="1300" dirty="0"/>
          </a:p>
        </p:txBody>
      </p:sp>
      <p:sp>
        <p:nvSpPr>
          <p:cNvPr id="33" name="Text 27"/>
          <p:cNvSpPr/>
          <p:nvPr/>
        </p:nvSpPr>
        <p:spPr>
          <a:xfrm>
            <a:off x="9665208" y="2514600"/>
            <a:ext cx="192938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the redacted, privacy-safe image ever hits storage.</a:t>
            </a:r>
            <a:endParaRPr lang="en-US" sz="950" dirty="0"/>
          </a:p>
        </p:txBody>
      </p:sp>
      <p:sp>
        <p:nvSpPr>
          <p:cNvPr id="34" name="Text 28"/>
          <p:cNvSpPr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B6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image-processing handles the redaction itself — the model only classifies.</a:t>
            </a:r>
            <a:endParaRPr lang="en-US" sz="1150" dirty="0"/>
          </a:p>
        </p:txBody>
      </p:sp>
      <p:sp>
        <p:nvSpPr>
          <p:cNvPr id="35" name="Shape 29"/>
          <p:cNvSpPr/>
          <p:nvPr/>
        </p:nvSpPr>
        <p:spPr>
          <a:xfrm>
            <a:off x="11109960" y="6291072"/>
            <a:ext cx="594360" cy="310896"/>
          </a:xfrm>
          <a:prstGeom prst="roundRect">
            <a:avLst>
              <a:gd name="adj" fmla="val 50000"/>
            </a:avLst>
          </a:prstGeom>
          <a:solidFill>
            <a:srgbClr val="141210"/>
          </a:solidFill>
          <a:ln/>
        </p:spPr>
      </p:sp>
      <p:sp>
        <p:nvSpPr>
          <p:cNvPr id="36" name="Text 30"/>
          <p:cNvSpPr/>
          <p:nvPr/>
        </p:nvSpPr>
        <p:spPr>
          <a:xfrm>
            <a:off x="11109960" y="6291072"/>
            <a:ext cx="594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07/13</a:t>
            </a:r>
            <a:endParaRPr lang="en-US" sz="950" dirty="0"/>
          </a:p>
        </p:txBody>
      </p:sp>
      <p:sp>
        <p:nvSpPr>
          <p:cNvPr id="37" name="Text 31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A6A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OBSCURA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85216"/>
            <a:ext cx="82296" cy="82296"/>
          </a:xfrm>
          <a:prstGeom prst="ellipse">
            <a:avLst/>
          </a:prstGeom>
          <a:solidFill>
            <a:srgbClr val="C98A00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7548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20" dirty="0">
                <a:solidFill>
                  <a:srgbClr val="6B6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SCOPE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21792" y="841248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141210"/>
                </a:solidFill>
                <a:latin typeface="DejaVu Sans Condensed" pitchFamily="34" charset="0"/>
                <a:ea typeface="DejaVu Sans Condensed" pitchFamily="34" charset="-122"/>
                <a:cs typeface="DejaVu Sans Condensed" pitchFamily="34" charset="-120"/>
              </a:rPr>
              <a:t>What Obscura</a:t>
            </a:r>
            <a:endParaRPr lang="en-US" sz="360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141210"/>
                </a:solidFill>
                <a:latin typeface="DejaVu Sans Condensed" pitchFamily="34" charset="0"/>
                <a:ea typeface="DejaVu Sans Condensed" pitchFamily="34" charset="-122"/>
                <a:cs typeface="DejaVu Sans Condensed" pitchFamily="34" charset="-120"/>
              </a:rPr>
              <a:t>watches for.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3401568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3DC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9536" y="2825496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FBF6E6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2962656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59536" y="3483864"/>
            <a:ext cx="29626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Bystander faces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59536" y="3794760"/>
            <a:ext cx="29626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Anyone not the primary subject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288536" y="2606040"/>
            <a:ext cx="3401568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3DCC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07992" y="2825496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FBF6E6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5152" y="2962656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07992" y="3483864"/>
            <a:ext cx="29626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Children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507992" y="3794760"/>
            <a:ext cx="29626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 sensitivity threshold for minors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7936992" y="2606040"/>
            <a:ext cx="3401568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3DCC8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156448" y="2825496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FBF6E6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3608" y="2962656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156448" y="3483864"/>
            <a:ext cx="29626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8156448" y="3794760"/>
            <a:ext cx="29626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Laptop, monitor &amp; phone displays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40080" y="4517136"/>
            <a:ext cx="3401568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3DCC8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59536" y="4736592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FBF6E6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6696" y="4873752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59536" y="5394960"/>
            <a:ext cx="29626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documents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859536" y="5705856"/>
            <a:ext cx="29626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statements, cards, ID paperwork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4288536" y="4517136"/>
            <a:ext cx="3401568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3DCC8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4507992" y="4736592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FBF6E6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5152" y="4873752"/>
            <a:ext cx="274320" cy="2743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507992" y="5394960"/>
            <a:ext cx="29626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License plates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4507992" y="5705856"/>
            <a:ext cx="29626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 plates in street shots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7936992" y="4517136"/>
            <a:ext cx="3401568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3DCC8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8156448" y="4736592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FBF6E6"/>
          </a:solidFill>
          <a:ln/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93608" y="4873752"/>
            <a:ext cx="274320" cy="27432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156448" y="5394960"/>
            <a:ext cx="29626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papers</a:t>
            </a:r>
            <a:endParaRPr lang="en-US" sz="1350" dirty="0"/>
          </a:p>
        </p:txBody>
      </p:sp>
      <p:sp>
        <p:nvSpPr>
          <p:cNvPr id="34" name="Text 26"/>
          <p:cNvSpPr/>
          <p:nvPr/>
        </p:nvSpPr>
        <p:spPr>
          <a:xfrm>
            <a:off x="8156448" y="5705856"/>
            <a:ext cx="29626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Contracts, printed documents</a:t>
            </a:r>
            <a:endParaRPr lang="en-US" sz="1050" dirty="0"/>
          </a:p>
        </p:txBody>
      </p:sp>
      <p:sp>
        <p:nvSpPr>
          <p:cNvPr id="35" name="Shape 27"/>
          <p:cNvSpPr/>
          <p:nvPr/>
        </p:nvSpPr>
        <p:spPr>
          <a:xfrm>
            <a:off x="11109960" y="6291072"/>
            <a:ext cx="594360" cy="310896"/>
          </a:xfrm>
          <a:prstGeom prst="roundRect">
            <a:avLst>
              <a:gd name="adj" fmla="val 50000"/>
            </a:avLst>
          </a:prstGeom>
          <a:solidFill>
            <a:srgbClr val="141210"/>
          </a:solidFill>
          <a:ln/>
        </p:spPr>
      </p:sp>
      <p:sp>
        <p:nvSpPr>
          <p:cNvPr id="36" name="Text 28"/>
          <p:cNvSpPr/>
          <p:nvPr/>
        </p:nvSpPr>
        <p:spPr>
          <a:xfrm>
            <a:off x="11109960" y="6291072"/>
            <a:ext cx="594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08/13</a:t>
            </a:r>
            <a:endParaRPr lang="en-US" sz="950" dirty="0"/>
          </a:p>
        </p:txBody>
      </p:sp>
      <p:sp>
        <p:nvSpPr>
          <p:cNvPr id="37" name="Text 29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A6A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OBSCURA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85216"/>
            <a:ext cx="82296" cy="82296"/>
          </a:xfrm>
          <a:prstGeom prst="ellipse">
            <a:avLst/>
          </a:prstGeom>
          <a:solidFill>
            <a:srgbClr val="C98A00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7548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20" dirty="0">
                <a:solidFill>
                  <a:srgbClr val="6B6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ON-DEVICE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21792" y="841248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141210"/>
                </a:solidFill>
                <a:latin typeface="DejaVu Sans Condensed" pitchFamily="34" charset="0"/>
                <a:ea typeface="DejaVu Sans Condensed" pitchFamily="34" charset="-122"/>
                <a:cs typeface="DejaVu Sans Condensed" pitchFamily="34" charset="-120"/>
              </a:rPr>
              <a:t>Privacy tech that leaks to the</a:t>
            </a:r>
            <a:endParaRPr lang="en-US" sz="320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141210"/>
                </a:solidFill>
                <a:latin typeface="DejaVu Sans Condensed" pitchFamily="34" charset="0"/>
                <a:ea typeface="DejaVu Sans Condensed" pitchFamily="34" charset="-122"/>
                <a:cs typeface="DejaVu Sans Condensed" pitchFamily="34" charset="-120"/>
              </a:rPr>
              <a:t>cloud isn’t privacy tech.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12648" y="2606040"/>
            <a:ext cx="2542032" cy="2926080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 w="12700">
            <a:solidFill>
              <a:srgbClr val="E3DC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" y="2862072"/>
            <a:ext cx="566928" cy="566928"/>
          </a:xfrm>
          <a:prstGeom prst="roundRect">
            <a:avLst>
              <a:gd name="adj" fmla="val 20968"/>
            </a:avLst>
          </a:prstGeom>
          <a:solidFill>
            <a:srgbClr val="FBF6E6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3008376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50392" y="3611880"/>
            <a:ext cx="206654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NPU-accelerated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50392" y="4087368"/>
            <a:ext cx="206654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6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 runs on the Snapdragon NPU, not the cloud.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410712" y="2606040"/>
            <a:ext cx="2542032" cy="2926080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 w="12700">
            <a:solidFill>
              <a:srgbClr val="E3DCC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648456" y="2862072"/>
            <a:ext cx="566928" cy="566928"/>
          </a:xfrm>
          <a:prstGeom prst="roundRect">
            <a:avLst>
              <a:gd name="adj" fmla="val 20968"/>
            </a:avLst>
          </a:prstGeom>
          <a:solidFill>
            <a:srgbClr val="FBF6E6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4760" y="3008376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8456" y="3611880"/>
            <a:ext cx="206654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offline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648456" y="4087368"/>
            <a:ext cx="206654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6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connectivity needed — nothing ever leaves the device.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208776" y="2606040"/>
            <a:ext cx="2542032" cy="2926080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 w="12700">
            <a:solidFill>
              <a:srgbClr val="E3DCC8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446520" y="2862072"/>
            <a:ext cx="566928" cy="566928"/>
          </a:xfrm>
          <a:prstGeom prst="roundRect">
            <a:avLst>
              <a:gd name="adj" fmla="val 20968"/>
            </a:avLst>
          </a:prstGeom>
          <a:solidFill>
            <a:srgbClr val="FBF6E6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2824" y="3008376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46520" y="3611880"/>
            <a:ext cx="206654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46520" y="4087368"/>
            <a:ext cx="206654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6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Sub-100ms per frame — fast enough for the live viewfinder.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9006840" y="2606040"/>
            <a:ext cx="2542032" cy="2926080"/>
          </a:xfrm>
          <a:prstGeom prst="roundRect">
            <a:avLst>
              <a:gd name="adj" fmla="val 3597"/>
            </a:avLst>
          </a:prstGeom>
          <a:solidFill>
            <a:srgbClr val="141210"/>
          </a:solidFill>
          <a:ln w="12700">
            <a:solidFill>
              <a:srgbClr val="E3DCC8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9244584" y="2862072"/>
            <a:ext cx="566928" cy="566928"/>
          </a:xfrm>
          <a:prstGeom prst="roundRect">
            <a:avLst>
              <a:gd name="adj" fmla="val 20968"/>
            </a:avLst>
          </a:prstGeom>
          <a:solidFill>
            <a:srgbClr val="F0B429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90888" y="3008376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44584" y="3611880"/>
            <a:ext cx="206654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to leak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9244584" y="4087368"/>
            <a:ext cx="206654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Sensitive data is never transmitted, so it can’t be intercepted.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11109960" y="6291072"/>
            <a:ext cx="594360" cy="310896"/>
          </a:xfrm>
          <a:prstGeom prst="roundRect">
            <a:avLst>
              <a:gd name="adj" fmla="val 50000"/>
            </a:avLst>
          </a:prstGeom>
          <a:solidFill>
            <a:srgbClr val="141210"/>
          </a:solidFill>
          <a:ln/>
        </p:spPr>
      </p:sp>
      <p:sp>
        <p:nvSpPr>
          <p:cNvPr id="26" name="Text 20"/>
          <p:cNvSpPr/>
          <p:nvPr/>
        </p:nvSpPr>
        <p:spPr>
          <a:xfrm>
            <a:off x="11109960" y="6291072"/>
            <a:ext cx="594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09/13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A6A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OBSCURA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85216"/>
            <a:ext cx="82296" cy="82296"/>
          </a:xfrm>
          <a:prstGeom prst="ellipse">
            <a:avLst/>
          </a:prstGeom>
          <a:solidFill>
            <a:srgbClr val="C98A00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7548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20" dirty="0">
                <a:solidFill>
                  <a:srgbClr val="6B6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DEMO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21792" y="841248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41210"/>
                </a:solidFill>
                <a:latin typeface="DejaVu Sans Condensed" pitchFamily="34" charset="0"/>
                <a:ea typeface="DejaVu Sans Condensed" pitchFamily="34" charset="-122"/>
                <a:cs typeface="DejaVu Sans Condensed" pitchFamily="34" charset="-120"/>
              </a:rPr>
              <a:t>90 seconds on stage.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10972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DC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05740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98A00"/>
                </a:solidFill>
                <a:latin typeface="DejaVu Sans Condensed" pitchFamily="34" charset="0"/>
                <a:ea typeface="DejaVu Sans Condensed" pitchFamily="34" charset="-122"/>
                <a:cs typeface="DejaVu Sans Condensed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1828800" y="2221992"/>
            <a:ext cx="0" cy="585216"/>
          </a:xfrm>
          <a:prstGeom prst="line">
            <a:avLst/>
          </a:prstGeom>
          <a:noFill/>
          <a:ln w="12700">
            <a:solidFill>
              <a:srgbClr val="E3DC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57400" y="214884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 the shot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937760" y="2148840"/>
            <a:ext cx="6446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the iQOO camera at a desk with a laptop screen, a document, and a bystander walking by.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3136392"/>
            <a:ext cx="10972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DC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136392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98A00"/>
                </a:solidFill>
                <a:latin typeface="DejaVu Sans Condensed" pitchFamily="34" charset="0"/>
                <a:ea typeface="DejaVu Sans Condensed" pitchFamily="34" charset="-122"/>
                <a:cs typeface="DejaVu Sans Condensed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1828800" y="3300984"/>
            <a:ext cx="0" cy="585216"/>
          </a:xfrm>
          <a:prstGeom prst="line">
            <a:avLst/>
          </a:prstGeom>
          <a:noFill/>
          <a:ln w="12700">
            <a:solidFill>
              <a:srgbClr val="E3DC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57400" y="3227832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live detection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937760" y="3227832"/>
            <a:ext cx="6446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viewfinder highlights the screen, the document, and the face in real time — before capture.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4215384"/>
            <a:ext cx="10972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DC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4215384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98A00"/>
                </a:solidFill>
                <a:latin typeface="DejaVu Sans Condensed" pitchFamily="34" charset="0"/>
                <a:ea typeface="DejaVu Sans Condensed" pitchFamily="34" charset="-122"/>
                <a:cs typeface="DejaVu Sans Condensed" pitchFamily="34" charset="-120"/>
              </a:rPr>
              <a:t>03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1828800" y="4379976"/>
            <a:ext cx="0" cy="585216"/>
          </a:xfrm>
          <a:prstGeom prst="line">
            <a:avLst/>
          </a:prstGeom>
          <a:noFill/>
          <a:ln w="12700">
            <a:solidFill>
              <a:srgbClr val="E3DC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57400" y="4306824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to capture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937760" y="4306824"/>
            <a:ext cx="6446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shutter fires. Flagged regions are automatically blurred in the same instant.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5294376"/>
            <a:ext cx="10972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DC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5294376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98A00"/>
                </a:solidFill>
                <a:latin typeface="DejaVu Sans Condensed" pitchFamily="34" charset="0"/>
                <a:ea typeface="DejaVu Sans Condensed" pitchFamily="34" charset="-122"/>
                <a:cs typeface="DejaVu Sans Condensed" pitchFamily="34" charset="-120"/>
              </a:rPr>
              <a:t>04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1828800" y="5458968"/>
            <a:ext cx="0" cy="585216"/>
          </a:xfrm>
          <a:prstGeom prst="line">
            <a:avLst/>
          </a:prstGeom>
          <a:noFill/>
          <a:ln w="12700">
            <a:solidFill>
              <a:srgbClr val="E3DC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057400" y="5385816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 the result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4937760" y="5385816"/>
            <a:ext cx="6446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Gallery shows the redacted photo. The unredacted version never existed on disk.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11109960" y="6291072"/>
            <a:ext cx="594360" cy="310896"/>
          </a:xfrm>
          <a:prstGeom prst="roundRect">
            <a:avLst>
              <a:gd name="adj" fmla="val 50000"/>
            </a:avLst>
          </a:prstGeom>
          <a:solidFill>
            <a:srgbClr val="141210"/>
          </a:solidFill>
          <a:ln/>
        </p:spPr>
      </p:sp>
      <p:sp>
        <p:nvSpPr>
          <p:cNvPr id="26" name="Text 24"/>
          <p:cNvSpPr/>
          <p:nvPr/>
        </p:nvSpPr>
        <p:spPr>
          <a:xfrm>
            <a:off x="11109960" y="6291072"/>
            <a:ext cx="594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10/13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A6A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OBSCURA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85216"/>
            <a:ext cx="82296" cy="82296"/>
          </a:xfrm>
          <a:prstGeom prst="ellipse">
            <a:avLst/>
          </a:prstGeom>
          <a:solidFill>
            <a:srgbClr val="C98A00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7548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20" dirty="0">
                <a:solidFill>
                  <a:srgbClr val="6B6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NEEDS AN IQOO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21792" y="841248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141210"/>
                </a:solidFill>
                <a:latin typeface="DejaVu Sans Condensed" pitchFamily="34" charset="0"/>
                <a:ea typeface="DejaVu Sans Condensed" pitchFamily="34" charset="-122"/>
                <a:cs typeface="DejaVu Sans Condensed" pitchFamily="34" charset="-120"/>
              </a:rPr>
              <a:t>This can’t be a website.</a:t>
            </a:r>
            <a:endParaRPr lang="en-US" sz="340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141210"/>
                </a:solidFill>
                <a:latin typeface="DejaVu Sans Condensed" pitchFamily="34" charset="0"/>
                <a:ea typeface="DejaVu Sans Condensed" pitchFamily="34" charset="-122"/>
                <a:cs typeface="DejaVu Sans Condensed" pitchFamily="34" charset="-120"/>
              </a:rPr>
              <a:t>It has to be the phone.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530352" cy="530352"/>
          </a:xfrm>
          <a:prstGeom prst="roundRect">
            <a:avLst>
              <a:gd name="adj" fmla="val 20690"/>
            </a:avLst>
          </a:prstGeom>
          <a:solidFill>
            <a:srgbClr val="FBF6E6"/>
          </a:solidFill>
          <a:ln w="12700">
            <a:solidFill>
              <a:srgbClr val="E3DCC8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633472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2478024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Snapdragon NPU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325880" y="278892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real-time frame classification locally, at camera frame rate.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40080" y="3703320"/>
            <a:ext cx="530352" cy="530352"/>
          </a:xfrm>
          <a:prstGeom prst="roundRect">
            <a:avLst>
              <a:gd name="adj" fmla="val 20690"/>
            </a:avLst>
          </a:prstGeom>
          <a:solidFill>
            <a:srgbClr val="FBF6E6"/>
          </a:solidFill>
          <a:ln w="12700">
            <a:solidFill>
              <a:srgbClr val="E3DCC8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822192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25880" y="3666744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pipeline access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325880" y="397764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Hooks into the live viewfinder — impossible from a browser.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40080" y="4892040"/>
            <a:ext cx="530352" cy="530352"/>
          </a:xfrm>
          <a:prstGeom prst="roundRect">
            <a:avLst>
              <a:gd name="adj" fmla="val 20690"/>
            </a:avLst>
          </a:prstGeom>
          <a:solidFill>
            <a:srgbClr val="FBF6E6"/>
          </a:solidFill>
          <a:ln w="12700">
            <a:solidFill>
              <a:srgbClr val="E3DCC8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010912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25880" y="4855464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On-device privacy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325880" y="516636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whole pitch collapses if a frame ever has to leave the phone.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6766560" y="2514600"/>
            <a:ext cx="4754880" cy="3566160"/>
          </a:xfrm>
          <a:prstGeom prst="roundRect">
            <a:avLst>
              <a:gd name="adj" fmla="val 2564"/>
            </a:avLst>
          </a:prstGeom>
          <a:solidFill>
            <a:srgbClr val="F0B429"/>
          </a:solidFill>
          <a:ln/>
        </p:spPr>
      </p:sp>
      <p:sp>
        <p:nvSpPr>
          <p:cNvPr id="18" name="Shape 13"/>
          <p:cNvSpPr/>
          <p:nvPr/>
        </p:nvSpPr>
        <p:spPr>
          <a:xfrm>
            <a:off x="7086600" y="283464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3760" y="2971800"/>
            <a:ext cx="256032" cy="25603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086600" y="344728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 KIT ROLE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7086600" y="3794760"/>
            <a:ext cx="41148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protected-photo review dashboard mirrors to the laptop via Office Kit — security teams or parents can audit what was auto-redacted and why, without ever seeing the original unredacted frame.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7086600" y="5257800"/>
            <a:ext cx="4114800" cy="0"/>
          </a:xfrm>
          <a:prstGeom prst="line">
            <a:avLst/>
          </a:prstGeom>
          <a:noFill/>
          <a:ln w="12700">
            <a:solidFill>
              <a:srgbClr val="D9A519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7086600" y="542239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 = capture + protect  ·  Laptop = review only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11109960" y="6291072"/>
            <a:ext cx="594360" cy="310896"/>
          </a:xfrm>
          <a:prstGeom prst="roundRect">
            <a:avLst>
              <a:gd name="adj" fmla="val 50000"/>
            </a:avLst>
          </a:prstGeom>
          <a:solidFill>
            <a:srgbClr val="141210"/>
          </a:solidFill>
          <a:ln/>
        </p:spPr>
      </p:sp>
      <p:sp>
        <p:nvSpPr>
          <p:cNvPr id="25" name="Text 19"/>
          <p:cNvSpPr/>
          <p:nvPr/>
        </p:nvSpPr>
        <p:spPr>
          <a:xfrm>
            <a:off x="11109960" y="6291072"/>
            <a:ext cx="594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11/13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A6A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OBSCURA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85216"/>
            <a:ext cx="82296" cy="82296"/>
          </a:xfrm>
          <a:prstGeom prst="ellipse">
            <a:avLst/>
          </a:prstGeom>
          <a:solidFill>
            <a:srgbClr val="C98A00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7548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20" dirty="0">
                <a:solidFill>
                  <a:srgbClr val="6B6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21792" y="841248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141210"/>
                </a:solidFill>
                <a:latin typeface="DejaVu Sans Condensed" pitchFamily="34" charset="0"/>
                <a:ea typeface="DejaVu Sans Condensed" pitchFamily="34" charset="-122"/>
                <a:cs typeface="DejaVu Sans Condensed" pitchFamily="34" charset="-120"/>
              </a:rPr>
              <a:t>From 30-hour MVP to</a:t>
            </a:r>
            <a:endParaRPr lang="en-US" sz="340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141210"/>
                </a:solidFill>
                <a:latin typeface="DejaVu Sans Condensed" pitchFamily="34" charset="0"/>
                <a:ea typeface="DejaVu Sans Condensed" pitchFamily="34" charset="-122"/>
                <a:cs typeface="DejaVu Sans Condensed" pitchFamily="34" charset="-120"/>
              </a:rPr>
              <a:t>system-level default.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5120640" cy="3703320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12700">
            <a:solidFill>
              <a:srgbClr val="E3DC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" y="278892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FBF6E6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" y="2916936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28803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— HACKATHON</a:t>
            </a:r>
            <a:endParaRPr lang="en-US" sz="14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3520440"/>
            <a:ext cx="182880" cy="1828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61872" y="347472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6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Standalone camera app on iQOO device</a:t>
            </a:r>
            <a:endParaRPr lang="en-US" sz="12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087368"/>
            <a:ext cx="182880" cy="1828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61872" y="4041648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6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Face, screen &amp; document detection</a:t>
            </a:r>
            <a:endParaRPr lang="en-US" sz="12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654296"/>
            <a:ext cx="182880" cy="18288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61872" y="4608576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6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on-device blur before save</a:t>
            </a:r>
            <a:endParaRPr lang="en-US" sz="12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5221224"/>
            <a:ext cx="182880" cy="18288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261872" y="5175504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6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viewfinder highlighting demo</a:t>
            </a:r>
            <a:endParaRPr lang="en-US" sz="1200" dirty="0"/>
          </a:p>
        </p:txBody>
      </p:sp>
      <p:sp>
        <p:nvSpPr>
          <p:cNvPr id="17" name="Shape 10"/>
          <p:cNvSpPr/>
          <p:nvPr/>
        </p:nvSpPr>
        <p:spPr>
          <a:xfrm>
            <a:off x="6217920" y="2514600"/>
            <a:ext cx="5120640" cy="3703320"/>
          </a:xfrm>
          <a:prstGeom prst="roundRect">
            <a:avLst>
              <a:gd name="adj" fmla="val 2469"/>
            </a:avLst>
          </a:prstGeom>
          <a:solidFill>
            <a:srgbClr val="141210"/>
          </a:solidFill>
          <a:ln/>
        </p:spPr>
      </p:sp>
      <p:sp>
        <p:nvSpPr>
          <p:cNvPr id="18" name="Shape 11"/>
          <p:cNvSpPr/>
          <p:nvPr/>
        </p:nvSpPr>
        <p:spPr>
          <a:xfrm>
            <a:off x="6510528" y="278892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F0B429"/>
          </a:solidFill>
          <a:ln/>
        </p:spPr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8544" y="2916936"/>
            <a:ext cx="256032" cy="256032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7178040" y="28803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— 6–12 MONTHS</a:t>
            </a:r>
            <a:endParaRPr lang="en-US" sz="140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7960" y="3520440"/>
            <a:ext cx="182880" cy="18288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6839712" y="347472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System-level hook — works inside ANY camera app</a:t>
            </a:r>
            <a:endParaRPr lang="en-US" sz="1200" dirty="0"/>
          </a:p>
        </p:txBody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7960" y="4087368"/>
            <a:ext cx="182880" cy="182880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6839712" y="4041648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redaction rules (family, enterprise modes)</a:t>
            </a:r>
            <a:endParaRPr lang="en-US" sz="1200" dirty="0"/>
          </a:p>
        </p:txBody>
      </p:sp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7960" y="4654296"/>
            <a:ext cx="182880" cy="182880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6839712" y="4608576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Signed audit log of what was redacted, kept local</a:t>
            </a:r>
            <a:endParaRPr lang="en-US" sz="1200" dirty="0"/>
          </a:p>
        </p:txBody>
      </p:sp>
      <p:pic>
        <p:nvPicPr>
          <p:cNvPr id="27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7960" y="5221224"/>
            <a:ext cx="182880" cy="182880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6839712" y="5175504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capture support, not just stills</a:t>
            </a:r>
            <a:endParaRPr lang="en-US" sz="1200" dirty="0"/>
          </a:p>
        </p:txBody>
      </p:sp>
      <p:sp>
        <p:nvSpPr>
          <p:cNvPr id="29" name="Shape 17"/>
          <p:cNvSpPr/>
          <p:nvPr/>
        </p:nvSpPr>
        <p:spPr>
          <a:xfrm>
            <a:off x="11109960" y="6291072"/>
            <a:ext cx="594360" cy="310896"/>
          </a:xfrm>
          <a:prstGeom prst="roundRect">
            <a:avLst>
              <a:gd name="adj" fmla="val 50000"/>
            </a:avLst>
          </a:prstGeom>
          <a:solidFill>
            <a:srgbClr val="141210"/>
          </a:solidFill>
          <a:ln/>
        </p:spPr>
      </p:sp>
      <p:sp>
        <p:nvSpPr>
          <p:cNvPr id="30" name="Text 18"/>
          <p:cNvSpPr/>
          <p:nvPr/>
        </p:nvSpPr>
        <p:spPr>
          <a:xfrm>
            <a:off x="11109960" y="6291072"/>
            <a:ext cx="594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12/13</a:t>
            </a:r>
            <a:endParaRPr lang="en-US" sz="950" dirty="0"/>
          </a:p>
        </p:txBody>
      </p:sp>
      <p:sp>
        <p:nvSpPr>
          <p:cNvPr id="31" name="Text 19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A6A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OBSCURA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41210"/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3291840"/>
            <a:ext cx="5486400" cy="5486400"/>
          </a:xfrm>
          <a:prstGeom prst="arc">
            <a:avLst>
              <a:gd name="adj1" fmla="val 0"/>
              <a:gd name="adj2" fmla="val 7800000"/>
            </a:avLst>
          </a:prstGeom>
          <a:ln w="15875">
            <a:solidFill>
              <a:srgbClr val="C98A00"/>
            </a:solidFill>
            <a:prstDash val="sysDot"/>
          </a:ln>
        </p:spPr>
      </p:sp>
      <p:sp>
        <p:nvSpPr>
          <p:cNvPr id="4" name="Shape 2"/>
          <p:cNvSpPr/>
          <p:nvPr/>
        </p:nvSpPr>
        <p:spPr>
          <a:xfrm>
            <a:off x="640080" y="777240"/>
            <a:ext cx="566928" cy="566928"/>
          </a:xfrm>
          <a:prstGeom prst="roundRect">
            <a:avLst>
              <a:gd name="adj" fmla="val 20968"/>
            </a:avLst>
          </a:prstGeom>
          <a:solidFill>
            <a:srgbClr val="F0B429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923544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508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66928" y="1874520"/>
            <a:ext cx="100584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DejaVu Sans Condensed" pitchFamily="34" charset="0"/>
                <a:ea typeface="DejaVu Sans Condensed" pitchFamily="34" charset="-122"/>
                <a:cs typeface="DejaVu Sans Condensed" pitchFamily="34" charset="-120"/>
              </a:rPr>
              <a:t>LET’S MAKE PRIVACY</a:t>
            </a:r>
            <a:endParaRPr lang="en-US" sz="500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DejaVu Sans Condensed" pitchFamily="34" charset="0"/>
                <a:ea typeface="DejaVu Sans Condensed" pitchFamily="34" charset="-122"/>
                <a:cs typeface="DejaVu Sans Condensed" pitchFamily="34" charset="-120"/>
              </a:rPr>
              <a:t>THE DEFAULT.</a:t>
            </a:r>
            <a:endParaRPr lang="en-US" sz="5000" dirty="0"/>
          </a:p>
        </p:txBody>
      </p:sp>
      <p:sp>
        <p:nvSpPr>
          <p:cNvPr id="8" name="Text 5"/>
          <p:cNvSpPr/>
          <p:nvPr/>
        </p:nvSpPr>
        <p:spPr>
          <a:xfrm>
            <a:off x="640080" y="37947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C9C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Obscura doesn’t ask you to remember privacy. It builds privacy into the one moment that matters — before the shutter closes.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" y="4892040"/>
            <a:ext cx="7772400" cy="0"/>
          </a:xfrm>
          <a:prstGeom prst="line">
            <a:avLst/>
          </a:prstGeom>
          <a:noFill/>
          <a:ln w="12700">
            <a:solidFill>
              <a:srgbClr val="3A362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" y="5120640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4121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51206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50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CODORITHM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971800" y="51206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C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iQOO Hackathon 2026, Chennai  ·  Open Innovation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10881360" y="6291072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13/13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1052</Words>
  <Application>Microsoft Office PowerPoint</Application>
  <PresentationFormat>Widescreen</PresentationFormat>
  <Paragraphs>192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DejaVu Sans Condensed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Bala Praharsha</cp:lastModifiedBy>
  <cp:revision>2</cp:revision>
  <dcterms:created xsi:type="dcterms:W3CDTF">2026-08-29T13:52:30Z</dcterms:created>
  <dcterms:modified xsi:type="dcterms:W3CDTF">2026-08-29T14:37:20Z</dcterms:modified>
</cp:coreProperties>
</file>